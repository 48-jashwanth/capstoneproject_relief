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</p:sldIdLst>
  <p:sldSz cx="14630400" cy="8229600"/>
  <p:notesSz cx="8229600" cy="14630400"/>
  <p:embeddedFontLst>
    <p:embeddedFont>
      <p:font typeface="Funnel Sans" panose="020B0604020202020204" charset="0"/>
      <p:regular r:id="rId13"/>
    </p:embeddedFont>
    <p:embeddedFont>
      <p:font typeface="Mona Sans Semi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0472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0615E-62CB-7419-0543-37BDB19F5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FE3230-7EE7-BA6F-6051-F195B5F6D4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FABF6C-EEB3-07DA-3FDE-76D79EA68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18B1D-C430-CA8C-51AD-21927A513A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9870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45166" y="3760410"/>
            <a:ext cx="70160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Disaster Insurance System</a:t>
            </a:r>
            <a:endParaRPr lang="en-US" sz="4450" b="1" dirty="0"/>
          </a:p>
        </p:txBody>
      </p:sp>
      <p:sp>
        <p:nvSpPr>
          <p:cNvPr id="5" name="Text 2"/>
          <p:cNvSpPr/>
          <p:nvPr/>
        </p:nvSpPr>
        <p:spPr>
          <a:xfrm>
            <a:off x="793790" y="65377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Presentation by Ratna Jashwanth</a:t>
            </a:r>
            <a:endParaRPr lang="en-US" sz="2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5005" y="1344275"/>
            <a:ext cx="6026681" cy="60266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1A9313-CD9A-F95E-03D2-75506AC5C718}"/>
              </a:ext>
            </a:extLst>
          </p:cNvPr>
          <p:cNvSpPr txBox="1"/>
          <p:nvPr/>
        </p:nvSpPr>
        <p:spPr>
          <a:xfrm>
            <a:off x="655956" y="1483353"/>
            <a:ext cx="58411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/>
              <a:t>RELIEF</a:t>
            </a:r>
            <a:endParaRPr lang="en-IN" sz="8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59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9834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Traditional disaster insurance processes are slow, fragmented, and lack transparency, especially during large-scale emergencies.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616398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2616398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373B48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2873693"/>
            <a:ext cx="33897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Disconnected Workflows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3364111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Policy issuance, claims, underwriting, and finance operate in separate systems with communication gaps.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616398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6482" y="2616398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373B48"/>
          </a:solidFill>
          <a:ln/>
        </p:spPr>
      </p:sp>
      <p:sp>
        <p:nvSpPr>
          <p:cNvPr id="10" name="Text 8"/>
          <p:cNvSpPr/>
          <p:nvPr/>
        </p:nvSpPr>
        <p:spPr>
          <a:xfrm>
            <a:off x="5565696" y="2873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No Transparency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65696" y="3364111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Customers lack visibility into claim status or who's processing their case.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2616398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9653" y="2616398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373B48"/>
          </a:solidFill>
          <a:ln/>
        </p:spPr>
      </p:sp>
      <p:sp>
        <p:nvSpPr>
          <p:cNvPr id="14" name="Text 12"/>
          <p:cNvSpPr/>
          <p:nvPr/>
        </p:nvSpPr>
        <p:spPr>
          <a:xfrm>
            <a:off x="9988868" y="2873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Manual Processes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988868" y="3364111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Spreadsheets and emails increase errors, delays, and fraud risk.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299829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3310" y="5299829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373B48"/>
          </a:solidFill>
          <a:ln/>
        </p:spPr>
      </p:sp>
      <p:sp>
        <p:nvSpPr>
          <p:cNvPr id="18" name="Text 16"/>
          <p:cNvSpPr/>
          <p:nvPr/>
        </p:nvSpPr>
        <p:spPr>
          <a:xfrm>
            <a:off x="1142524" y="55571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Poor Coordination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42524" y="6047542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Agents lack visibility into claims progress, hindering customer assistance.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5216962" y="5299829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86482" y="5299829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373B48"/>
          </a:solidFill>
          <a:ln/>
        </p:spPr>
      </p:sp>
      <p:sp>
        <p:nvSpPr>
          <p:cNvPr id="22" name="Text 20"/>
          <p:cNvSpPr/>
          <p:nvPr/>
        </p:nvSpPr>
        <p:spPr>
          <a:xfrm>
            <a:off x="5565696" y="55571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Weak Monitoring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65696" y="6047542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Manual tracking makes real-time risk pool assessment impossible.</a:t>
            </a:r>
            <a:endParaRPr lang="en-US" sz="17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A346A5-9DA0-A86D-96BC-5808A6057878}"/>
              </a:ext>
            </a:extLst>
          </p:cNvPr>
          <p:cNvSpPr/>
          <p:nvPr/>
        </p:nvSpPr>
        <p:spPr>
          <a:xfrm>
            <a:off x="12812952" y="7683190"/>
            <a:ext cx="1806297" cy="5352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96985" y="1027033"/>
            <a:ext cx="6904315" cy="517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Relief Platform: Disaster Insurance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1596985" y="1787128"/>
            <a:ext cx="11436429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 operational backbone for disaster insurance management with structured, role-based workflows.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596985" y="2152769"/>
            <a:ext cx="5657612" cy="1755458"/>
          </a:xfrm>
          <a:prstGeom prst="roundRect">
            <a:avLst>
              <a:gd name="adj" fmla="val 3966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70340" y="2326124"/>
            <a:ext cx="497205" cy="497205"/>
          </a:xfrm>
          <a:prstGeom prst="roundRect">
            <a:avLst>
              <a:gd name="adj" fmla="val 18388966"/>
            </a:avLst>
          </a:prstGeom>
          <a:solidFill>
            <a:srgbClr val="373B4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7024" y="2462808"/>
            <a:ext cx="223718" cy="2237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70340" y="2944416"/>
            <a:ext cx="2151459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Role-Based Workflow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70340" y="3276005"/>
            <a:ext cx="5310902" cy="45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Dedicated roles for customers, agents, claims officers, and administrators with clear actions.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75684" y="2152769"/>
            <a:ext cx="5657731" cy="1755458"/>
          </a:xfrm>
          <a:prstGeom prst="roundRect">
            <a:avLst>
              <a:gd name="adj" fmla="val 3966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49039" y="2326124"/>
            <a:ext cx="497205" cy="497205"/>
          </a:xfrm>
          <a:prstGeom prst="roundRect">
            <a:avLst>
              <a:gd name="adj" fmla="val 18388966"/>
            </a:avLst>
          </a:prstGeom>
          <a:solidFill>
            <a:srgbClr val="373B4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5723" y="2462808"/>
            <a:ext cx="223718" cy="2237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9039" y="2944416"/>
            <a:ext cx="2569131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Structured Policy Process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549039" y="3276005"/>
            <a:ext cx="5311021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Automatic linking to disaster zones and risk categories.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596985" y="4029313"/>
            <a:ext cx="5657612" cy="1526024"/>
          </a:xfrm>
          <a:prstGeom prst="roundRect">
            <a:avLst>
              <a:gd name="adj" fmla="val 4562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770340" y="4202668"/>
            <a:ext cx="497205" cy="497205"/>
          </a:xfrm>
          <a:prstGeom prst="roundRect">
            <a:avLst>
              <a:gd name="adj" fmla="val 18388966"/>
            </a:avLst>
          </a:prstGeom>
          <a:solidFill>
            <a:srgbClr val="373B4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07024" y="4339352"/>
            <a:ext cx="223718" cy="2237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70340" y="4820960"/>
            <a:ext cx="2299573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Data-Driven Premiums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70340" y="5152549"/>
            <a:ext cx="5310902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Risk insights enable informed recommendations instead of guesswork.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375684" y="4029313"/>
            <a:ext cx="5657731" cy="1526024"/>
          </a:xfrm>
          <a:prstGeom prst="roundRect">
            <a:avLst>
              <a:gd name="adj" fmla="val 4562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549039" y="4202668"/>
            <a:ext cx="497205" cy="497205"/>
          </a:xfrm>
          <a:prstGeom prst="roundRect">
            <a:avLst>
              <a:gd name="adj" fmla="val 18388966"/>
            </a:avLst>
          </a:prstGeom>
          <a:solidFill>
            <a:srgbClr val="373B48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85723" y="4339352"/>
            <a:ext cx="223718" cy="2237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9039" y="4820960"/>
            <a:ext cx="2567464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Streamlined Underwriting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549039" y="5152549"/>
            <a:ext cx="5311021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Direct routing eliminates manual communication and document loss.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1596985" y="5676424"/>
            <a:ext cx="5657612" cy="1526024"/>
          </a:xfrm>
          <a:prstGeom prst="roundRect">
            <a:avLst>
              <a:gd name="adj" fmla="val 4562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770340" y="5849779"/>
            <a:ext cx="497205" cy="497205"/>
          </a:xfrm>
          <a:prstGeom prst="roundRect">
            <a:avLst>
              <a:gd name="adj" fmla="val 18388966"/>
            </a:avLst>
          </a:prstGeom>
          <a:solidFill>
            <a:srgbClr val="373B48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07024" y="5986463"/>
            <a:ext cx="223718" cy="2237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70340" y="6468070"/>
            <a:ext cx="2145744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Real-Time Monitoring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1770340" y="6799659"/>
            <a:ext cx="5310902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Automatic risk pool updates with financial exposure tracking.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7375684" y="5676424"/>
            <a:ext cx="5657731" cy="1526024"/>
          </a:xfrm>
          <a:prstGeom prst="roundRect">
            <a:avLst>
              <a:gd name="adj" fmla="val 4562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7549039" y="5849779"/>
            <a:ext cx="497205" cy="497205"/>
          </a:xfrm>
          <a:prstGeom prst="roundRect">
            <a:avLst>
              <a:gd name="adj" fmla="val 18388966"/>
            </a:avLst>
          </a:prstGeom>
          <a:solidFill>
            <a:srgbClr val="373B48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85723" y="5986463"/>
            <a:ext cx="223718" cy="2237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49039" y="6468070"/>
            <a:ext cx="2148602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Financial Traceability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7549039" y="6799659"/>
            <a:ext cx="5311021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Every transaction linked to policy, claim, and disaster risk pool.</a:t>
            </a:r>
            <a:endParaRPr lang="en-US" sz="13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BE39CA-C08B-2C5C-1D4F-CBAD14A22C2C}"/>
              </a:ext>
            </a:extLst>
          </p:cNvPr>
          <p:cNvSpPr/>
          <p:nvPr/>
        </p:nvSpPr>
        <p:spPr>
          <a:xfrm>
            <a:off x="12812952" y="7683190"/>
            <a:ext cx="1806297" cy="5352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666" y="687229"/>
            <a:ext cx="10124599" cy="67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Tech Stack — Relief Insurance Platform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8666" y="1882616"/>
            <a:ext cx="2709863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🖥️</a:t>
            </a:r>
            <a:r>
              <a:rPr lang="en-US" sz="21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 Frontend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58666" y="2469594"/>
            <a:ext cx="6292096" cy="4236601"/>
          </a:xfrm>
          <a:prstGeom prst="roundRect">
            <a:avLst>
              <a:gd name="adj" fmla="val 214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6286" y="2477214"/>
            <a:ext cx="6276856" cy="6030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83099" y="2609136"/>
            <a:ext cx="207347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Category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497580" y="2609136"/>
            <a:ext cx="3328868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Technology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6286" y="3080266"/>
            <a:ext cx="6276856" cy="6030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83099" y="3212187"/>
            <a:ext cx="207347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Framework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97580" y="3212187"/>
            <a:ext cx="3328868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Angular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66286" y="3683317"/>
            <a:ext cx="6276856" cy="6030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83099" y="3815239"/>
            <a:ext cx="207347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Language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7580" y="3815239"/>
            <a:ext cx="3328868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TypeScript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66286" y="4286369"/>
            <a:ext cx="6276856" cy="6030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83099" y="4418290"/>
            <a:ext cx="207347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Styling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97580" y="4418290"/>
            <a:ext cx="3328868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Tailwind CSS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66286" y="4889421"/>
            <a:ext cx="6276856" cy="6030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83099" y="5021342"/>
            <a:ext cx="207347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Routing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497580" y="5021342"/>
            <a:ext cx="3328868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Angular Router (Lazy Loading)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66286" y="5492472"/>
            <a:ext cx="6276856" cy="6030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83099" y="5624393"/>
            <a:ext cx="207347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State Management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497580" y="5624393"/>
            <a:ext cx="3328868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</a:rPr>
              <a:t>Signals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66286" y="6095524"/>
            <a:ext cx="6276856" cy="6030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83099" y="6227445"/>
            <a:ext cx="207347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Auth (Token Decode)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3497580" y="6227445"/>
            <a:ext cx="3328868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jwt-decode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587258" y="1882616"/>
            <a:ext cx="2709863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⚙️</a:t>
            </a:r>
            <a:r>
              <a:rPr lang="en-US" sz="21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 Backend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7587258" y="2469594"/>
            <a:ext cx="6292096" cy="4839653"/>
          </a:xfrm>
          <a:prstGeom prst="roundRect">
            <a:avLst>
              <a:gd name="adj" fmla="val 188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94878" y="2477214"/>
            <a:ext cx="6276856" cy="6030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811691" y="2609136"/>
            <a:ext cx="207347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Category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0326172" y="2609136"/>
            <a:ext cx="3328868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Technology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7594878" y="3080266"/>
            <a:ext cx="6276856" cy="6030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811691" y="3212187"/>
            <a:ext cx="207347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Framework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0326172" y="3212187"/>
            <a:ext cx="3328868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Spring Boot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7594878" y="3683317"/>
            <a:ext cx="6276856" cy="6030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811691" y="3815239"/>
            <a:ext cx="207347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Language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0326172" y="3815239"/>
            <a:ext cx="3328868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Java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7594878" y="4286369"/>
            <a:ext cx="6276856" cy="6030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811691" y="4418290"/>
            <a:ext cx="207347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Security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10326172" y="4418290"/>
            <a:ext cx="3328868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Spring Security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7594878" y="4889421"/>
            <a:ext cx="6276856" cy="6030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811691" y="5021342"/>
            <a:ext cx="207347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JWT Library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10326172" y="5021342"/>
            <a:ext cx="3328868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jjwt (io.jsonwebtoken)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7594878" y="5492472"/>
            <a:ext cx="6276856" cy="6030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811691" y="5624393"/>
            <a:ext cx="207347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ORM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10326172" y="5624393"/>
            <a:ext cx="3328868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Spring Data JPA + Hibernate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7594878" y="6095524"/>
            <a:ext cx="6276856" cy="6030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811691" y="6227445"/>
            <a:ext cx="207347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Database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10326172" y="6227445"/>
            <a:ext cx="3328868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H2 (In-Memory)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7594878" y="6698575"/>
            <a:ext cx="6276856" cy="6030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811691" y="6830497"/>
            <a:ext cx="207347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Build Tool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10326172" y="6830497"/>
            <a:ext cx="3328868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Maven</a:t>
            </a:r>
            <a:endParaRPr lang="en-US" sz="17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91104F4-5DC9-4689-64AD-772568E8B5EF}"/>
              </a:ext>
            </a:extLst>
          </p:cNvPr>
          <p:cNvSpPr/>
          <p:nvPr/>
        </p:nvSpPr>
        <p:spPr>
          <a:xfrm>
            <a:off x="12812952" y="7694341"/>
            <a:ext cx="1806297" cy="5352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88243" y="522017"/>
            <a:ext cx="5939617" cy="545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373B48"/>
                </a:solidFill>
                <a:latin typeface="Mona Sans Semi Bold" pitchFamily="34" charset="0"/>
              </a:rPr>
              <a:t>ER DIAGRAM</a:t>
            </a:r>
            <a:endParaRPr lang="en-US" sz="3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6943DD-3E6C-269D-47B6-F79DA5023F77}"/>
              </a:ext>
            </a:extLst>
          </p:cNvPr>
          <p:cNvSpPr/>
          <p:nvPr/>
        </p:nvSpPr>
        <p:spPr>
          <a:xfrm>
            <a:off x="12812952" y="7683190"/>
            <a:ext cx="1806297" cy="5352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7C7160-31B1-18C1-0083-81240A7BB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9210" y="27612"/>
            <a:ext cx="10760927" cy="8213139"/>
          </a:xfrm>
          <a:prstGeom prst="rect">
            <a:avLst/>
          </a:prstGeom>
        </p:spPr>
      </p:pic>
      <p:sp>
        <p:nvSpPr>
          <p:cNvPr id="3" name="AutoShape 2" descr="Generated image: Entity relationships and mappings table">
            <a:extLst>
              <a:ext uri="{FF2B5EF4-FFF2-40B4-BE49-F238E27FC236}">
                <a16:creationId xmlns:a16="http://schemas.microsoft.com/office/drawing/2014/main" id="{C35A140E-B6BD-7812-A4BA-87AC429DD4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0"/>
            <a:ext cx="5486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0CAE0E-688F-A61B-44CD-9865F00111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6" b="9802"/>
          <a:stretch>
            <a:fillRect/>
          </a:stretch>
        </p:blipFill>
        <p:spPr>
          <a:xfrm>
            <a:off x="10136459" y="1216810"/>
            <a:ext cx="4482790" cy="67228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DD4A6-A79D-4EAF-59F0-B5A37A159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DED7838-593B-582A-BD95-3CB79F3DE5C7}"/>
              </a:ext>
            </a:extLst>
          </p:cNvPr>
          <p:cNvSpPr/>
          <p:nvPr/>
        </p:nvSpPr>
        <p:spPr>
          <a:xfrm>
            <a:off x="2925604" y="600075"/>
            <a:ext cx="8779193" cy="545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50"/>
              </a:lnSpc>
              <a:buNone/>
            </a:pPr>
            <a:r>
              <a:rPr lang="en-US" sz="34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Policy Request to Premium Paid Workflow</a:t>
            </a:r>
            <a:endParaRPr lang="en-US" sz="340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E13588DA-DEEF-2B81-ECAB-123DFF6C8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751" y="1338146"/>
            <a:ext cx="10905893" cy="5378527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FB922EB8-0429-85B8-4413-66C5DB348A31}"/>
              </a:ext>
            </a:extLst>
          </p:cNvPr>
          <p:cNvSpPr/>
          <p:nvPr/>
        </p:nvSpPr>
        <p:spPr>
          <a:xfrm>
            <a:off x="763786" y="6952774"/>
            <a:ext cx="13102828" cy="685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workflow illustrates the end-to-end process from initial request to the final premium payment, ensuring transparency and efficiency at every stage.</a:t>
            </a:r>
            <a:endParaRPr lang="en-US" sz="17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A1A423-5C94-923E-0210-2AC12595B0DC}"/>
              </a:ext>
            </a:extLst>
          </p:cNvPr>
          <p:cNvSpPr/>
          <p:nvPr/>
        </p:nvSpPr>
        <p:spPr>
          <a:xfrm>
            <a:off x="12812952" y="7683190"/>
            <a:ext cx="1806297" cy="5352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113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77885" y="501729"/>
            <a:ext cx="8474512" cy="570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Claim Request to Claim Paid Workflow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650" y="1365528"/>
            <a:ext cx="11893461" cy="57683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9651" y="7299008"/>
            <a:ext cx="12591098" cy="526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workflow outlines the end-to-end process from the initial claim request through to the final claim payment, designed to ensure clarity, compliance, and operational efficiency throughout the entire cycle.</a:t>
            </a:r>
            <a:endParaRPr lang="en-US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61E2BB-C5CF-8DEB-4A03-B108FBB010E8}"/>
              </a:ext>
            </a:extLst>
          </p:cNvPr>
          <p:cNvSpPr/>
          <p:nvPr/>
        </p:nvSpPr>
        <p:spPr>
          <a:xfrm>
            <a:off x="12812952" y="7683190"/>
            <a:ext cx="1806297" cy="5352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0917"/>
            <a:ext cx="122903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Create Risk Pool and Disaster Zone Workflow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504203"/>
            <a:ext cx="13042820" cy="47106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469975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workflow details the comprehensive process for defining and managing risk pools and disaster zones within the Relief Platform. This structured approach allows for precise policy linking, real-time risk exposure monitoring, and dynamic adjustment of premiums, forming the foundation for resilient disaster insurance operations.</a:t>
            </a:r>
            <a:endParaRPr lang="en-US" sz="17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CDC646-2914-38C8-2CD5-11DA74D63249}"/>
              </a:ext>
            </a:extLst>
          </p:cNvPr>
          <p:cNvSpPr/>
          <p:nvPr/>
        </p:nvSpPr>
        <p:spPr>
          <a:xfrm>
            <a:off x="12812952" y="7683190"/>
            <a:ext cx="1806297" cy="5352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880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Future Scope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41213"/>
            <a:ext cx="3090505" cy="3309580"/>
          </a:xfrm>
          <a:prstGeom prst="roundRect">
            <a:avLst>
              <a:gd name="adj" fmla="val 308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327564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73B4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462695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4182904"/>
            <a:ext cx="262163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Real-time notifications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5027652"/>
            <a:ext cx="26216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Send alerts for claim status, policy updates, and disaster events.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111109" y="3041213"/>
            <a:ext cx="3090624" cy="3309580"/>
          </a:xfrm>
          <a:prstGeom prst="roundRect">
            <a:avLst>
              <a:gd name="adj" fmla="val 3082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45543" y="327564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73B4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32709" y="3462695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45543" y="4182904"/>
            <a:ext cx="26217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In-app chat/support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345543" y="5027652"/>
            <a:ext cx="26217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Enable live chat between customers, agents, and support staff.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428548" y="3041213"/>
            <a:ext cx="3090624" cy="3309580"/>
          </a:xfrm>
          <a:prstGeom prst="roundRect">
            <a:avLst>
              <a:gd name="adj" fmla="val 3082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662982" y="327564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73B48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0148" y="3462695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62982" y="4182904"/>
            <a:ext cx="26217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Document upload and OCR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7662982" y="5027652"/>
            <a:ext cx="26217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Allow users to upload documents and extract data automatically.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10745986" y="3041213"/>
            <a:ext cx="3090624" cy="3309580"/>
          </a:xfrm>
          <a:prstGeom prst="roundRect">
            <a:avLst>
              <a:gd name="adj" fmla="val 3082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980420" y="327564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73B48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67586" y="3462695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80420" y="4182904"/>
            <a:ext cx="26217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Integration with payment gateways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980420" y="5027652"/>
            <a:ext cx="26217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Support online premium payments and claim disbursements.</a:t>
            </a:r>
            <a:endParaRPr lang="en-US" sz="17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AAD0C5-8CEA-BAAB-B39C-9E997A9C0977}"/>
              </a:ext>
            </a:extLst>
          </p:cNvPr>
          <p:cNvSpPr/>
          <p:nvPr/>
        </p:nvSpPr>
        <p:spPr>
          <a:xfrm>
            <a:off x="12812952" y="7683190"/>
            <a:ext cx="1806297" cy="5352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80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THANK YOU !!!</a:t>
            </a:r>
            <a:endParaRPr lang="en-US" sz="8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4C51B2-56B9-3F6B-18E6-DF3C860E2D42}"/>
              </a:ext>
            </a:extLst>
          </p:cNvPr>
          <p:cNvSpPr/>
          <p:nvPr/>
        </p:nvSpPr>
        <p:spPr>
          <a:xfrm>
            <a:off x="12812952" y="7683190"/>
            <a:ext cx="1806297" cy="5352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460</Words>
  <Application>Microsoft Office PowerPoint</Application>
  <PresentationFormat>Custom</PresentationFormat>
  <Paragraphs>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Funnel Sans</vt:lpstr>
      <vt:lpstr>Arial</vt:lpstr>
      <vt:lpstr>Mona Sans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ratna jashwanth</cp:lastModifiedBy>
  <cp:revision>3</cp:revision>
  <dcterms:created xsi:type="dcterms:W3CDTF">2026-03-12T04:24:48Z</dcterms:created>
  <dcterms:modified xsi:type="dcterms:W3CDTF">2026-03-12T18:31:33Z</dcterms:modified>
</cp:coreProperties>
</file>